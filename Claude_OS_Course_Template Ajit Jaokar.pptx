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6.png"/><Relationship Id="rId5" Type="http://schemas.openxmlformats.org/officeDocument/2006/relationships/image" Target="../media/image4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6.png"/><Relationship Id="rId6" Type="http://schemas.openxmlformats.org/officeDocument/2006/relationships/image" Target="../media/image41.png"/><Relationship Id="rId7" Type="http://schemas.openxmlformats.org/officeDocument/2006/relationships/image" Target="../media/image9.png"/><Relationship Id="rId8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28.png"/><Relationship Id="rId5" Type="http://schemas.openxmlformats.org/officeDocument/2006/relationships/image" Target="../media/image5.png"/><Relationship Id="rId6" Type="http://schemas.openxmlformats.org/officeDocument/2006/relationships/image" Target="../media/image43.png"/><Relationship Id="rId7" Type="http://schemas.openxmlformats.org/officeDocument/2006/relationships/image" Target="../media/image29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6.png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28.png"/><Relationship Id="rId6" Type="http://schemas.openxmlformats.org/officeDocument/2006/relationships/image" Target="../media/image18.png"/><Relationship Id="rId7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3.png"/><Relationship Id="rId4" Type="http://schemas.openxmlformats.org/officeDocument/2006/relationships/image" Target="../media/image23.png"/><Relationship Id="rId5" Type="http://schemas.openxmlformats.org/officeDocument/2006/relationships/image" Target="../media/image29.png"/><Relationship Id="rId6" Type="http://schemas.openxmlformats.org/officeDocument/2006/relationships/image" Target="../media/image9.png"/><Relationship Id="rId7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23.png"/><Relationship Id="rId7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967728" y="164592"/>
            <a:ext cx="2066544" cy="4809744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7059168" y="29260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7278624" y="29260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7498080" y="29260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7717536" y="29260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7936992" y="29260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8156448" y="292608"/>
            <a:ext cx="164592" cy="594360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8375904" y="29260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8595360" y="292608"/>
            <a:ext cx="164592" cy="594360"/>
          </a:xfrm>
          <a:prstGeom prst="rect">
            <a:avLst/>
          </a:prstGeom>
          <a:solidFill>
            <a:srgbClr val="00C8AA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7059168" y="116128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7278624" y="116128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7498080" y="116128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7717536" y="116128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7936992" y="1161288"/>
            <a:ext cx="164592" cy="594360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8156448" y="116128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8375904" y="1161288"/>
            <a:ext cx="164592" cy="594360"/>
          </a:xfrm>
          <a:prstGeom prst="rect">
            <a:avLst/>
          </a:prstGeom>
          <a:solidFill>
            <a:srgbClr val="00C8AA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8595360" y="116128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7059168" y="202996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7278624" y="202996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7498080" y="2029968"/>
            <a:ext cx="164592" cy="594360"/>
          </a:xfrm>
          <a:prstGeom prst="rect">
            <a:avLst/>
          </a:prstGeom>
          <a:solidFill>
            <a:srgbClr val="00C8AA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7717536" y="2029968"/>
            <a:ext cx="164592" cy="594360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7936992" y="202996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8156448" y="2029968"/>
            <a:ext cx="164592" cy="594360"/>
          </a:xfrm>
          <a:prstGeom prst="rect">
            <a:avLst/>
          </a:prstGeom>
          <a:solidFill>
            <a:srgbClr val="00C8AA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8375904" y="202996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8595360" y="202996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7059168" y="289864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7278624" y="289864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7498080" y="2898648"/>
            <a:ext cx="164592" cy="594360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7717536" y="289864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7936992" y="2898648"/>
            <a:ext cx="164592" cy="594360"/>
          </a:xfrm>
          <a:prstGeom prst="rect">
            <a:avLst/>
          </a:prstGeom>
          <a:solidFill>
            <a:srgbClr val="00C8AA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8156448" y="289864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8375904" y="289864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8595360" y="289864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7059168" y="376732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7278624" y="3767328"/>
            <a:ext cx="164592" cy="594360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7498080" y="376732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7717536" y="3767328"/>
            <a:ext cx="164592" cy="594360"/>
          </a:xfrm>
          <a:prstGeom prst="rect">
            <a:avLst/>
          </a:prstGeom>
          <a:solidFill>
            <a:srgbClr val="00C8AA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7936992" y="376732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8156448" y="376732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8375904" y="376732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8595360" y="3767328"/>
            <a:ext cx="164592" cy="594360"/>
          </a:xfrm>
          <a:prstGeom prst="rect">
            <a:avLst/>
          </a:prstGeom>
          <a:solidFill>
            <a:srgbClr val="1E2936">
              <a:alpha val="70196"/>
            </a:srgbClr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50292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/>
          <p:nvPr/>
        </p:nvSpPr>
        <p:spPr>
          <a:xfrm>
            <a:off x="411480" y="1463040"/>
            <a:ext cx="1508760" cy="256032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411480" y="1481328"/>
            <a:ext cx="1508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COURSE TEMPLATE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256032" y="1828800"/>
            <a:ext cx="6309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Calibri"/>
              <a:buNone/>
            </a:pPr>
            <a:r>
              <a:rPr b="1" i="0" lang="en-US" sz="6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OS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256032" y="292608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A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C8AA"/>
                </a:solidFill>
                <a:latin typeface="Calibri"/>
                <a:ea typeface="Calibri"/>
                <a:cs typeface="Calibri"/>
                <a:sym typeface="Calibri"/>
              </a:rPr>
              <a:t>The Operating System for AI-Native Startups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56025" y="3367122"/>
            <a:ext cx="6309300" cy="9945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A complete course template for founders &amp; entrepreneurs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who want to run their company on Claude</a:t>
            </a:r>
            <a:endParaRPr b="0" i="0" sz="1300" u="none" cap="none" strike="noStrike">
              <a:solidFill>
                <a:srgbClr val="8B9BB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Created by Ajit Jaokar </a:t>
            </a:r>
            <a:r>
              <a:rPr b="1" lang="en-US" sz="1300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using</a:t>
            </a:r>
            <a:r>
              <a:rPr b="1" lang="en-US" sz="1300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 Claude https://www.linkedin.com/in/ajitjaokar/</a:t>
            </a:r>
            <a:endParaRPr b="1" sz="1300">
              <a:solidFill>
                <a:srgbClr val="8B9BB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256032" y="4754880"/>
            <a:ext cx="6309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Updated: March 2026  |  Claude Opus 4.6 &amp; Sonnet 4.6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Big Idea: What Is a Claude OS?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C8AA"/>
                </a:solidFill>
                <a:latin typeface="Calibri"/>
                <a:ea typeface="Calibri"/>
                <a:cs typeface="Calibri"/>
                <a:sym typeface="Calibri"/>
              </a:rPr>
              <a:t>Why this is different from 'using AI tools'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11480" y="1051560"/>
            <a:ext cx="8321040" cy="18288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1E29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11480" y="1188720"/>
            <a:ext cx="8321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AA"/>
              </a:buClr>
              <a:buSzPts val="1800"/>
              <a:buFont typeface="Calibri"/>
              <a:buNone/>
            </a:pPr>
            <a:r>
              <a:rPr b="1" i="1" lang="en-US" sz="1800" u="none" cap="none" strike="noStrike">
                <a:solidFill>
                  <a:srgbClr val="00C8AA"/>
                </a:solidFill>
                <a:latin typeface="Calibri"/>
                <a:ea typeface="Calibri"/>
                <a:cs typeface="Calibri"/>
                <a:sym typeface="Calibri"/>
              </a:rPr>
              <a:t>"An Operating System is the platform everything else runs 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AA"/>
              </a:buClr>
              <a:buSzPts val="1800"/>
              <a:buFont typeface="Calibri"/>
              <a:buNone/>
            </a:pPr>
            <a:r>
              <a:rPr b="1" i="1" lang="en-US" sz="1800" u="none" cap="none" strike="noStrike">
                <a:solidFill>
                  <a:srgbClr val="00C8AA"/>
                </a:solidFill>
                <a:latin typeface="Calibri"/>
                <a:ea typeface="Calibri"/>
                <a:cs typeface="Calibri"/>
                <a:sym typeface="Calibri"/>
              </a:rPr>
              <a:t>Claude OS is the platform your startup runs on."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320040" y="2286000"/>
            <a:ext cx="4114800" cy="260604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320040" y="2286000"/>
            <a:ext cx="4114800" cy="402336"/>
          </a:xfrm>
          <a:prstGeom prst="rect">
            <a:avLst/>
          </a:prstGeom>
          <a:solidFill>
            <a:srgbClr val="FF6B6B">
              <a:alpha val="20000"/>
            </a:srgbClr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484632" y="2322576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❌  Traditional Startup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84632" y="2788920"/>
            <a:ext cx="374904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Open AI tool when stuck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8B9BB4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One-off prompts, no memory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8B9BB4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Each person uses AI differently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8B9BB4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AI as assistant — you do the work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8B9BB4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Starts from zero every session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709160" y="2286000"/>
            <a:ext cx="4114800" cy="260604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709160" y="2286000"/>
            <a:ext cx="4114800" cy="402336"/>
          </a:xfrm>
          <a:prstGeom prst="rect">
            <a:avLst/>
          </a:prstGeom>
          <a:solidFill>
            <a:srgbClr val="06D6A0">
              <a:alpha val="20000"/>
            </a:srgbClr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4873752" y="2322576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✅  Claude OS Startup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873752" y="2788920"/>
            <a:ext cx="374904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Claude runs the workflow layer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8B9BB4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Persistent Projects + Skills + Memory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8B9BB4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Systemized, team-wide AI processes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8B9BB4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AI as execution — you set direction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8B9BB4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Compounds: smarter every week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Three-Layer Architecture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C8AA"/>
                </a:solidFill>
                <a:latin typeface="Calibri"/>
                <a:ea typeface="Calibri"/>
                <a:cs typeface="Calibri"/>
                <a:sym typeface="Calibri"/>
              </a:rPr>
              <a:t>Every Claude OS is built on these three layers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11480" y="1051560"/>
            <a:ext cx="8321040" cy="18288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1E29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320040" y="1143000"/>
            <a:ext cx="2761488" cy="374904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320040" y="1143000"/>
            <a:ext cx="2761488" cy="54864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484632" y="1261872"/>
            <a:ext cx="850392" cy="256032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484632" y="1280160"/>
            <a:ext cx="8503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LAYER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" name="Google Shape;9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632" y="162763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/>
          <p:cNvSpPr/>
          <p:nvPr/>
        </p:nvSpPr>
        <p:spPr>
          <a:xfrm>
            <a:off x="1033272" y="16642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Interface Layer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84632" y="2176272"/>
            <a:ext cx="24871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Your Personalized Desktop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84632" y="2514600"/>
            <a:ext cx="2450592" cy="18288"/>
          </a:xfrm>
          <a:prstGeom prst="rect">
            <a:avLst/>
          </a:prstGeom>
          <a:solidFill>
            <a:srgbClr val="243041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484632" y="2606040"/>
            <a:ext cx="2487168" cy="2121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Projects — persistent context for each product/team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Skills — Claude's learned, repeatable workflows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Memory &amp; Style — your brand voice and preferences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User Preferences — how Claude communicates with you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310128" y="1143000"/>
            <a:ext cx="2761488" cy="374904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3310128" y="1143000"/>
            <a:ext cx="2761488" cy="54864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3474720" y="1261872"/>
            <a:ext cx="850392" cy="256032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3474720" y="1280160"/>
            <a:ext cx="8503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LAYER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" name="Google Shape;10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4720" y="162763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/>
          <p:nvPr/>
        </p:nvSpPr>
        <p:spPr>
          <a:xfrm>
            <a:off x="4023360" y="16642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Workflow Layer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474720" y="2176272"/>
            <a:ext cx="24871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Defined Processes, Not Blank Pages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3474720" y="2514600"/>
            <a:ext cx="2450592" cy="18288"/>
          </a:xfrm>
          <a:prstGeom prst="rect">
            <a:avLst/>
          </a:prstGeom>
          <a:solidFill>
            <a:srgbClr val="243041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3474720" y="2606040"/>
            <a:ext cx="2487168" cy="2121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PRD generation from rough ideas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Weekly competitive intel synthesis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Customer interview analysis pipeline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Sprint planning and ticket generation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300216" y="1143000"/>
            <a:ext cx="2761488" cy="374904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6300216" y="1143000"/>
            <a:ext cx="2761488" cy="54864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6464808" y="1261872"/>
            <a:ext cx="850392" cy="256032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6464808" y="1280160"/>
            <a:ext cx="8503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LAYER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64808" y="162763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/>
          <p:nvPr/>
        </p:nvSpPr>
        <p:spPr>
          <a:xfrm>
            <a:off x="7013448" y="16642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Layer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464808" y="2176272"/>
            <a:ext cx="24871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C8AA"/>
                </a:solidFill>
                <a:latin typeface="Calibri"/>
                <a:ea typeface="Calibri"/>
                <a:cs typeface="Calibri"/>
                <a:sym typeface="Calibri"/>
              </a:rPr>
              <a:t>Autonomous Work While You Sleep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6464808" y="2514600"/>
            <a:ext cx="2450592" cy="18288"/>
          </a:xfrm>
          <a:prstGeom prst="rect">
            <a:avLst/>
          </a:prstGeom>
          <a:solidFill>
            <a:srgbClr val="243041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6464808" y="2606040"/>
            <a:ext cx="2487168" cy="2121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Opus 4.6 Agent Teams on long-horizon tasks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Claude Code building tools overnight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Claude in Chrome automating browser workflows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Cowork handling file and data pipelines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Course Structure — 6 Modules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C8AA"/>
                </a:solidFill>
                <a:latin typeface="Calibri"/>
                <a:ea typeface="Calibri"/>
                <a:cs typeface="Calibri"/>
                <a:sym typeface="Calibri"/>
              </a:rPr>
              <a:t>Each module builds on the last to complete your Claude 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11480" y="1051560"/>
            <a:ext cx="8321040" cy="18288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1E29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320040" y="1207008"/>
            <a:ext cx="2724912" cy="150876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320040" y="1207008"/>
            <a:ext cx="2724912" cy="54864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484632" y="1408176"/>
            <a:ext cx="475488" cy="475488"/>
          </a:xfrm>
          <a:prstGeom prst="rect">
            <a:avLst/>
          </a:prstGeom>
          <a:solidFill>
            <a:srgbClr val="00C8AA">
              <a:alpha val="20000"/>
            </a:srgbClr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08" y="144475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/>
          <p:nvPr/>
        </p:nvSpPr>
        <p:spPr>
          <a:xfrm>
            <a:off x="1069848" y="1371600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A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8AA"/>
                </a:solidFill>
                <a:latin typeface="Calibri"/>
                <a:ea typeface="Calibri"/>
                <a:cs typeface="Calibri"/>
                <a:sym typeface="Calibri"/>
              </a:rPr>
              <a:t>MODULE 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069848" y="1572768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Foundations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84632" y="2029968"/>
            <a:ext cx="23957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Context, Projects &amp; Skills setup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84632" y="2414016"/>
            <a:ext cx="438912" cy="256032"/>
          </a:xfrm>
          <a:prstGeom prst="rect">
            <a:avLst/>
          </a:prstGeom>
          <a:solidFill>
            <a:srgbClr val="243041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484632" y="2432304"/>
            <a:ext cx="4389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3h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200400" y="1207008"/>
            <a:ext cx="2724912" cy="150876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3200400" y="1207008"/>
            <a:ext cx="2724912" cy="54864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3364992" y="1408176"/>
            <a:ext cx="475488" cy="475488"/>
          </a:xfrm>
          <a:prstGeom prst="rect">
            <a:avLst/>
          </a:prstGeom>
          <a:solidFill>
            <a:srgbClr val="4A9EFF">
              <a:alpha val="20000"/>
            </a:srgbClr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" name="Google Shape;14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1568" y="144475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/>
          <p:nvPr/>
        </p:nvSpPr>
        <p:spPr>
          <a:xfrm>
            <a:off x="3950208" y="1371600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MODULE 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3950208" y="1572768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Interface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3364992" y="2029968"/>
            <a:ext cx="23957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Personalizing your Claude OS desktop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3364992" y="2414016"/>
            <a:ext cx="438912" cy="256032"/>
          </a:xfrm>
          <a:prstGeom prst="rect">
            <a:avLst/>
          </a:prstGeom>
          <a:solidFill>
            <a:srgbClr val="243041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3364992" y="2432304"/>
            <a:ext cx="4389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3h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080760" y="1207008"/>
            <a:ext cx="2724912" cy="150876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6080760" y="1207008"/>
            <a:ext cx="2724912" cy="54864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6245352" y="1408176"/>
            <a:ext cx="475488" cy="475488"/>
          </a:xfrm>
          <a:prstGeom prst="rect">
            <a:avLst/>
          </a:prstGeom>
          <a:solidFill>
            <a:srgbClr val="A78BFA">
              <a:alpha val="20000"/>
            </a:srgbClr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1928" y="144475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/>
          <p:nvPr/>
        </p:nvSpPr>
        <p:spPr>
          <a:xfrm>
            <a:off x="6830568" y="1371600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MODULE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6830568" y="1572768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Workflow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6245352" y="2029968"/>
            <a:ext cx="23957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Defining your core startup workflows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6245352" y="2414016"/>
            <a:ext cx="438912" cy="256032"/>
          </a:xfrm>
          <a:prstGeom prst="rect">
            <a:avLst/>
          </a:prstGeom>
          <a:solidFill>
            <a:srgbClr val="243041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6245352" y="2432304"/>
            <a:ext cx="4389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5h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20040" y="2898648"/>
            <a:ext cx="2724912" cy="150876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320040" y="2898648"/>
            <a:ext cx="2724912" cy="54864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484632" y="3099816"/>
            <a:ext cx="475488" cy="475488"/>
          </a:xfrm>
          <a:prstGeom prst="rect">
            <a:avLst/>
          </a:prstGeom>
          <a:solidFill>
            <a:srgbClr val="FFD166">
              <a:alpha val="20000"/>
            </a:srgbClr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9" name="Google Shape;15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1208" y="313639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6"/>
          <p:cNvSpPr/>
          <p:nvPr/>
        </p:nvSpPr>
        <p:spPr>
          <a:xfrm>
            <a:off x="1069848" y="3063240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MODULE 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1069848" y="3264408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84632" y="3721608"/>
            <a:ext cx="23957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Autonomous agents &amp; Claude 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84632" y="4105656"/>
            <a:ext cx="438912" cy="256032"/>
          </a:xfrm>
          <a:prstGeom prst="rect">
            <a:avLst/>
          </a:prstGeom>
          <a:solidFill>
            <a:srgbClr val="243041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484632" y="4123944"/>
            <a:ext cx="4389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5h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200400" y="2898648"/>
            <a:ext cx="2724912" cy="150876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3200400" y="2898648"/>
            <a:ext cx="2724912" cy="54864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3364992" y="3099816"/>
            <a:ext cx="475488" cy="475488"/>
          </a:xfrm>
          <a:prstGeom prst="rect">
            <a:avLst/>
          </a:prstGeom>
          <a:solidFill>
            <a:srgbClr val="06D6A0">
              <a:alpha val="20000"/>
            </a:srgbClr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8" name="Google Shape;16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01568" y="313639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/>
          <p:nvPr/>
        </p:nvSpPr>
        <p:spPr>
          <a:xfrm>
            <a:off x="3950208" y="3063240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MODULE 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950208" y="3264408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Growth Stack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364992" y="3721608"/>
            <a:ext cx="23957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Sales, content &amp; customer workflows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3364992" y="4105656"/>
            <a:ext cx="438912" cy="256032"/>
          </a:xfrm>
          <a:prstGeom prst="rect">
            <a:avLst/>
          </a:prstGeom>
          <a:solidFill>
            <a:srgbClr val="243041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3364992" y="4123944"/>
            <a:ext cx="4389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4h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080760" y="2898648"/>
            <a:ext cx="2724912" cy="150876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6080760" y="2898648"/>
            <a:ext cx="2724912" cy="54864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6245352" y="3099816"/>
            <a:ext cx="475488" cy="475488"/>
          </a:xfrm>
          <a:prstGeom prst="rect">
            <a:avLst/>
          </a:prstGeom>
          <a:solidFill>
            <a:srgbClr val="FF6B6B">
              <a:alpha val="20000"/>
            </a:srgbClr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7" name="Google Shape;17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1928" y="313639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6"/>
          <p:cNvSpPr/>
          <p:nvPr/>
        </p:nvSpPr>
        <p:spPr>
          <a:xfrm>
            <a:off x="6830568" y="3063240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MODULE 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830568" y="3264408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 Operations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6245352" y="3721608"/>
            <a:ext cx="23957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Team rollout, measurement &amp; evolution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245352" y="4105656"/>
            <a:ext cx="438912" cy="256032"/>
          </a:xfrm>
          <a:prstGeom prst="rect">
            <a:avLst/>
          </a:prstGeom>
          <a:solidFill>
            <a:srgbClr val="243041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6245352" y="4123944"/>
            <a:ext cx="4389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3h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01 — Foundations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C8AA"/>
                </a:solidFill>
                <a:latin typeface="Calibri"/>
                <a:ea typeface="Calibri"/>
                <a:cs typeface="Calibri"/>
                <a:sym typeface="Calibri"/>
              </a:rPr>
              <a:t>Building the mental model before touching any tool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11480" y="1051560"/>
            <a:ext cx="8321040" cy="18288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1E29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320040" y="1207008"/>
            <a:ext cx="4206240" cy="160020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320040" y="1207008"/>
            <a:ext cx="54864" cy="1600200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4" name="Google Shape;19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632" y="13716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7"/>
          <p:cNvSpPr/>
          <p:nvPr/>
        </p:nvSpPr>
        <p:spPr>
          <a:xfrm>
            <a:off x="978408" y="134416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OS, Not Tool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484632" y="1773936"/>
            <a:ext cx="3913632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The mindset shift: from prompting to systems thinking. What a Claude OS does that ad hoc AI use never will.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727448" y="1207008"/>
            <a:ext cx="4206240" cy="160020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4727448" y="1207008"/>
            <a:ext cx="54864" cy="1600200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9" name="Google Shape;19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13716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7"/>
          <p:cNvSpPr/>
          <p:nvPr/>
        </p:nvSpPr>
        <p:spPr>
          <a:xfrm>
            <a:off x="5385816" y="134416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Claude Ecosystem (2026)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892040" y="1773936"/>
            <a:ext cx="3913632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Models: Haiku 4.5 / Sonnet 4.6 / Opus 4.6. Surfaces: claude.ai, API, Code, Cowork, Chrome. When to use which.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320040" y="2990088"/>
            <a:ext cx="4206240" cy="160020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320040" y="2990088"/>
            <a:ext cx="54864" cy="160020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4" name="Google Shape;20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632" y="31546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7"/>
          <p:cNvSpPr/>
          <p:nvPr/>
        </p:nvSpPr>
        <p:spPr>
          <a:xfrm>
            <a:off x="978408" y="312724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Engineering for PMs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484632" y="3557016"/>
            <a:ext cx="3913632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The Founder Prompting Framework: Role + Context + Constraints + Output format. XML tags. Extended thinking.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4727448" y="2990088"/>
            <a:ext cx="4206240" cy="160020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4727448" y="2990088"/>
            <a:ext cx="54864" cy="160020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9" name="Google Shape;20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2040" y="31546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7"/>
          <p:cNvSpPr/>
          <p:nvPr/>
        </p:nvSpPr>
        <p:spPr>
          <a:xfrm>
            <a:off x="5385816" y="312724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Projects &amp; Context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892040" y="3557016"/>
            <a:ext cx="3913632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Creating your first Project with startup context baked in. How persistent context compounds over time.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920" y="47183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7"/>
          <p:cNvSpPr/>
          <p:nvPr/>
        </p:nvSpPr>
        <p:spPr>
          <a:xfrm>
            <a:off x="868680" y="471830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C8AA"/>
                </a:solidFill>
                <a:latin typeface="Calibri"/>
                <a:ea typeface="Calibri"/>
                <a:cs typeface="Calibri"/>
                <a:sym typeface="Calibri"/>
              </a:rPr>
              <a:t>Lab: Configure your first Project with your startup's context, goals, and vocabulary. Run your first extended thinking session.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02 — The Interface Layer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C8AA"/>
                </a:solidFill>
                <a:latin typeface="Calibri"/>
                <a:ea typeface="Calibri"/>
                <a:cs typeface="Calibri"/>
                <a:sym typeface="Calibri"/>
              </a:rPr>
              <a:t>Building your personalized Claude OS desktop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11480" y="1051560"/>
            <a:ext cx="8321040" cy="18288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1E29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4" name="Google Shape;22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2344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8"/>
          <p:cNvSpPr/>
          <p:nvPr/>
        </p:nvSpPr>
        <p:spPr>
          <a:xfrm>
            <a:off x="960120" y="1261872"/>
            <a:ext cx="7863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Your Interface Layer is the accumulating infrastructure that makes every Claude session start from strength, not scratch.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320040" y="1874520"/>
            <a:ext cx="4206240" cy="1444752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320040" y="1874520"/>
            <a:ext cx="54864" cy="1444752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8" name="Google Shape;22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" y="203911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8"/>
          <p:cNvSpPr/>
          <p:nvPr/>
        </p:nvSpPr>
        <p:spPr>
          <a:xfrm>
            <a:off x="978408" y="201168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Library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484632" y="2441448"/>
            <a:ext cx="39136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Teach Claude your workflows by demonstration. Weekly report format. PRD structure. Email voice. Each Skill is a reusable, shareable process.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727448" y="1874520"/>
            <a:ext cx="4206240" cy="1444752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4727448" y="1874520"/>
            <a:ext cx="54864" cy="1444752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3" name="Google Shape;23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2040" y="203911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8"/>
          <p:cNvSpPr/>
          <p:nvPr/>
        </p:nvSpPr>
        <p:spPr>
          <a:xfrm>
            <a:off x="5385816" y="201168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Memory Architecture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892040" y="2441448"/>
            <a:ext cx="39136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What Claude remembers across sessions. How to guide what gets stored. Building institutional knowledge over time.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320040" y="3474720"/>
            <a:ext cx="4206240" cy="1444752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320040" y="3474720"/>
            <a:ext cx="54864" cy="1444752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8" name="Google Shape;23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4632" y="363931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8"/>
          <p:cNvSpPr/>
          <p:nvPr/>
        </p:nvSpPr>
        <p:spPr>
          <a:xfrm>
            <a:off x="978408" y="361188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Style &amp; Voice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484632" y="4041648"/>
            <a:ext cx="39136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Calibrate Claude's output to your brand: formal/casual, depth, formatting preferences. Set once, applied everywhere.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4727448" y="3474720"/>
            <a:ext cx="4206240" cy="1444752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4727448" y="3474720"/>
            <a:ext cx="54864" cy="1444752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3" name="Google Shape;24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92040" y="363931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8"/>
          <p:cNvSpPr/>
          <p:nvPr/>
        </p:nvSpPr>
        <p:spPr>
          <a:xfrm>
            <a:off x="5385816" y="361188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Deployment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4892040" y="4041648"/>
            <a:ext cx="39136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Sharing Projects and Skills across your team. Org-wide Skills on Team/Enterprise plans. Onboarding new hires into your Claude 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7" name="Google Shape;247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2920" y="47183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8"/>
          <p:cNvSpPr/>
          <p:nvPr/>
        </p:nvSpPr>
        <p:spPr>
          <a:xfrm>
            <a:off x="868680" y="471830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C8AA"/>
                </a:solidFill>
                <a:latin typeface="Calibri"/>
                <a:ea typeface="Calibri"/>
                <a:cs typeface="Calibri"/>
                <a:sym typeface="Calibri"/>
              </a:rPr>
              <a:t>Lab: Create 3 Skills for your most repeated workflows. Set your brand voice. Build a team-shared Project.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03 — The Workflow Layer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C8AA"/>
                </a:solidFill>
                <a:latin typeface="Calibri"/>
                <a:ea typeface="Calibri"/>
                <a:cs typeface="Calibri"/>
                <a:sym typeface="Calibri"/>
              </a:rPr>
              <a:t>Turning recurring tasks into defined, reliable processes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411480" y="1051560"/>
            <a:ext cx="8321040" cy="18288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1E29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411480" y="1170432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The Workflow Layer is where you eliminate blank-page friction. For every recurring task, there's a Claude process — not a new prompt.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320040" y="1783080"/>
            <a:ext cx="2724912" cy="315468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320040" y="1783080"/>
            <a:ext cx="2724912" cy="54864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484632" y="1938528"/>
            <a:ext cx="438912" cy="438912"/>
          </a:xfrm>
          <a:prstGeom prst="rect">
            <a:avLst/>
          </a:prstGeom>
          <a:solidFill>
            <a:srgbClr val="00C8AA">
              <a:alpha val="20000"/>
            </a:srgbClr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2" name="Google Shape;26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08" y="197510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9"/>
          <p:cNvSpPr/>
          <p:nvPr/>
        </p:nvSpPr>
        <p:spPr>
          <a:xfrm>
            <a:off x="1033272" y="196596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 Workflows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484632" y="2487168"/>
            <a:ext cx="2423160" cy="18288"/>
          </a:xfrm>
          <a:prstGeom prst="rect">
            <a:avLst/>
          </a:prstGeom>
          <a:solidFill>
            <a:srgbClr val="243041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484632" y="2578608"/>
            <a:ext cx="2423160" cy="2176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PRD from rough idea (15 min)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8B9BB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Feature spec generation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8B9BB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Roadmap prioritization (RICE/MoSCoW)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8B9BB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User story batch writing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3200400" y="1783080"/>
            <a:ext cx="2724912" cy="315468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3200400" y="1783080"/>
            <a:ext cx="2724912" cy="54864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3364992" y="1938528"/>
            <a:ext cx="438912" cy="438912"/>
          </a:xfrm>
          <a:prstGeom prst="rect">
            <a:avLst/>
          </a:prstGeom>
          <a:solidFill>
            <a:srgbClr val="4A9EFF">
              <a:alpha val="20000"/>
            </a:srgbClr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9" name="Google Shape;26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1568" y="197510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9"/>
          <p:cNvSpPr/>
          <p:nvPr/>
        </p:nvSpPr>
        <p:spPr>
          <a:xfrm>
            <a:off x="3913632" y="196596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Workflows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3364992" y="2487168"/>
            <a:ext cx="2423160" cy="18288"/>
          </a:xfrm>
          <a:prstGeom prst="rect">
            <a:avLst/>
          </a:prstGeom>
          <a:solidFill>
            <a:srgbClr val="243041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3364992" y="2578608"/>
            <a:ext cx="2423160" cy="2176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Weekly competitive brief (automated)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8B9BB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Market sizing from public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8B9BB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Customer interview synthesis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8B9BB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Trend monitoring + summary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6080760" y="1783080"/>
            <a:ext cx="2724912" cy="315468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6080760" y="1783080"/>
            <a:ext cx="2724912" cy="54864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6245352" y="1938528"/>
            <a:ext cx="438912" cy="438912"/>
          </a:xfrm>
          <a:prstGeom prst="rect">
            <a:avLst/>
          </a:prstGeom>
          <a:solidFill>
            <a:srgbClr val="A78BFA">
              <a:alpha val="20000"/>
            </a:srgbClr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6" name="Google Shape;27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1928" y="197510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9"/>
          <p:cNvSpPr/>
          <p:nvPr/>
        </p:nvSpPr>
        <p:spPr>
          <a:xfrm>
            <a:off x="6793992" y="196596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Execution Workflows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6245352" y="2487168"/>
            <a:ext cx="2423160" cy="18288"/>
          </a:xfrm>
          <a:prstGeom prst="rect">
            <a:avLst/>
          </a:prstGeom>
          <a:solidFill>
            <a:srgbClr val="243041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6245352" y="2578608"/>
            <a:ext cx="2423160" cy="2176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Sprint planning from backlog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8B9BB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Meeting notes → action items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8B9BB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Investor update drafts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8B9BB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Data analysis &amp; interpretation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1" name="Google Shape;28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" y="47183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9"/>
          <p:cNvSpPr/>
          <p:nvPr/>
        </p:nvSpPr>
        <p:spPr>
          <a:xfrm>
            <a:off x="868680" y="471830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C8AA"/>
                </a:solidFill>
                <a:latin typeface="Calibri"/>
                <a:ea typeface="Calibri"/>
                <a:cs typeface="Calibri"/>
                <a:sym typeface="Calibri"/>
              </a:rPr>
              <a:t>Lab: Map your top 5 recurring tasks. Build Claude Skill + prompt template for each. Run all 5 in one 90-minute session.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04 — The Agent Layer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C8AA"/>
                </a:solidFill>
                <a:latin typeface="Calibri"/>
                <a:ea typeface="Calibri"/>
                <a:cs typeface="Calibri"/>
                <a:sym typeface="Calibri"/>
              </a:rPr>
              <a:t>Delegating autonomous, multi-hour work to Claude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411480" y="1051560"/>
            <a:ext cx="8321040" cy="18288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1E29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320040" y="1207008"/>
            <a:ext cx="4206240" cy="160020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320040" y="1207008"/>
            <a:ext cx="54864" cy="1600200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4" name="Google Shape;29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632" y="13716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0"/>
          <p:cNvSpPr/>
          <p:nvPr/>
        </p:nvSpPr>
        <p:spPr>
          <a:xfrm>
            <a:off x="978408" y="134416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Opus 4.6 Agent Teams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484632" y="1773936"/>
            <a:ext cx="3913632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Multiple Claude instances collaborating in parallel. Orchestrator + sub-agent architecture. 14.5-hour autonomous task horizon. How to structure long-running work.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4727448" y="1207008"/>
            <a:ext cx="4206240" cy="160020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4727448" y="1207008"/>
            <a:ext cx="54864" cy="1600200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9" name="Google Shape;29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13716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0"/>
          <p:cNvSpPr/>
          <p:nvPr/>
        </p:nvSpPr>
        <p:spPr>
          <a:xfrm>
            <a:off x="5385816" y="134416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Code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4892040" y="1773936"/>
            <a:ext cx="3913632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Natural language → working software. Building internal tools, dashboards, automation scripts. No engineering background required to direct and review.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320040" y="2990088"/>
            <a:ext cx="4206240" cy="160020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320040" y="2990088"/>
            <a:ext cx="54864" cy="160020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4" name="Google Shape;30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632" y="31546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0"/>
          <p:cNvSpPr/>
          <p:nvPr/>
        </p:nvSpPr>
        <p:spPr>
          <a:xfrm>
            <a:off x="978408" y="312724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in Chrome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484632" y="3557016"/>
            <a:ext cx="3913632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Browser workflow automation. Record once, repeat forever. Reading console logs, DOM state, network requests. Automating any web-based task.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4727448" y="2990088"/>
            <a:ext cx="4206240" cy="160020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4727448" y="2990088"/>
            <a:ext cx="54864" cy="160020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9" name="Google Shape;30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2040" y="31546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0"/>
          <p:cNvSpPr/>
          <p:nvPr/>
        </p:nvSpPr>
        <p:spPr>
          <a:xfrm>
            <a:off x="5385816" y="312724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Cowork + Tool Integrations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4892040" y="3557016"/>
            <a:ext cx="3913632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Desktop automation for non-developers. Gmail, Calendar, Slack integrations. File processing pipelines. CRM enrichment and sync.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3" name="Google Shape;313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920" y="47183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0"/>
          <p:cNvSpPr/>
          <p:nvPr/>
        </p:nvSpPr>
        <p:spPr>
          <a:xfrm>
            <a:off x="868680" y="471830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C8AA"/>
                </a:solidFill>
                <a:latin typeface="Calibri"/>
                <a:ea typeface="Calibri"/>
                <a:cs typeface="Calibri"/>
                <a:sym typeface="Calibri"/>
              </a:rPr>
              <a:t>Lab: Design and run a multi-step agent task (e.g. weekly competitor report or lead research pipeline). Review outputs and refine.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05 — The Growth Stack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C8AA"/>
                </a:solidFill>
                <a:latin typeface="Calibri"/>
                <a:ea typeface="Calibri"/>
                <a:cs typeface="Calibri"/>
                <a:sym typeface="Calibri"/>
              </a:rPr>
              <a:t>Acquiring and retaining customers with Claude-powered workflows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411480" y="1051560"/>
            <a:ext cx="8321040" cy="18288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1E29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320040" y="1207008"/>
            <a:ext cx="4206240" cy="169164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320040" y="1207008"/>
            <a:ext cx="54864" cy="1691640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484632" y="1344168"/>
            <a:ext cx="411480" cy="411480"/>
          </a:xfrm>
          <a:prstGeom prst="rect">
            <a:avLst/>
          </a:prstGeom>
          <a:solidFill>
            <a:srgbClr val="00C8AA">
              <a:alpha val="20000"/>
            </a:srgbClr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7" name="Google Shape;32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08" y="137160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1"/>
          <p:cNvSpPr/>
          <p:nvPr/>
        </p:nvSpPr>
        <p:spPr>
          <a:xfrm>
            <a:off x="1014984" y="1371600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Content at Scale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484632" y="1801368"/>
            <a:ext cx="3913632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Brand voice set in Style feature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Content calendar + batch generation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SEO-optimized blog and landing copy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A/B copy variant creation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4727448" y="1207008"/>
            <a:ext cx="4206240" cy="169164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4727448" y="1207008"/>
            <a:ext cx="54864" cy="1691640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4892040" y="1344168"/>
            <a:ext cx="411480" cy="411480"/>
          </a:xfrm>
          <a:prstGeom prst="rect">
            <a:avLst/>
          </a:prstGeom>
          <a:solidFill>
            <a:srgbClr val="4A9EFF">
              <a:alpha val="20000"/>
            </a:srgbClr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3" name="Google Shape;33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8616" y="137160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1"/>
          <p:cNvSpPr/>
          <p:nvPr/>
        </p:nvSpPr>
        <p:spPr>
          <a:xfrm>
            <a:off x="5422392" y="1371600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Sales &amp; Outreach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4892040" y="1801368"/>
            <a:ext cx="3913632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Lead research-to-outreach pipeline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Personalized proposal customization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Objection handling scripts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CRM enrichment via Claude agents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320040" y="3063240"/>
            <a:ext cx="4206240" cy="169164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320040" y="3063240"/>
            <a:ext cx="54864" cy="169164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484632" y="3200400"/>
            <a:ext cx="411480" cy="411480"/>
          </a:xfrm>
          <a:prstGeom prst="rect">
            <a:avLst/>
          </a:prstGeom>
          <a:solidFill>
            <a:srgbClr val="A78BFA">
              <a:alpha val="20000"/>
            </a:srgbClr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9" name="Google Shape;33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208" y="322783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1"/>
          <p:cNvSpPr/>
          <p:nvPr/>
        </p:nvSpPr>
        <p:spPr>
          <a:xfrm>
            <a:off x="1014984" y="3227832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 Success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484632" y="3657600"/>
            <a:ext cx="3913632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Support ticket synthesis &amp; trends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NPS and survey analysis at scale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Help doc and FAQ generation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Onboarding flow optimization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4727448" y="3063240"/>
            <a:ext cx="4206240" cy="169164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4727448" y="3063240"/>
            <a:ext cx="54864" cy="169164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1"/>
          <p:cNvSpPr/>
          <p:nvPr/>
        </p:nvSpPr>
        <p:spPr>
          <a:xfrm>
            <a:off x="4892040" y="3200400"/>
            <a:ext cx="411480" cy="411480"/>
          </a:xfrm>
          <a:prstGeom prst="rect">
            <a:avLst/>
          </a:prstGeom>
          <a:solidFill>
            <a:srgbClr val="FFD166">
              <a:alpha val="20000"/>
            </a:srgbClr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5" name="Google Shape;34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28616" y="322783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1"/>
          <p:cNvSpPr/>
          <p:nvPr/>
        </p:nvSpPr>
        <p:spPr>
          <a:xfrm>
            <a:off x="5422392" y="3227832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Comms Intelligence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4892040" y="3657600"/>
            <a:ext cx="3913632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Gmail: triage, draft, summarize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Calendar: scheduling intelligence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Slack: async synthesis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Meeting prep and follow-up automation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9" name="Google Shape;349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920" y="47183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1"/>
          <p:cNvSpPr/>
          <p:nvPr/>
        </p:nvSpPr>
        <p:spPr>
          <a:xfrm>
            <a:off x="868680" y="471830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C8AA"/>
                </a:solidFill>
                <a:latin typeface="Calibri"/>
                <a:ea typeface="Calibri"/>
                <a:cs typeface="Calibri"/>
                <a:sym typeface="Calibri"/>
              </a:rPr>
              <a:t>Lab: Build a lead research → outreach pipeline using Claude + Gmail integration. Target: 20 personalized emails in 30 minutes.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06 — OS Operations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C8AA"/>
                </a:solidFill>
                <a:latin typeface="Calibri"/>
                <a:ea typeface="Calibri"/>
                <a:cs typeface="Calibri"/>
                <a:sym typeface="Calibri"/>
              </a:rPr>
              <a:t>Running, measuring and evolving your Claude 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411480" y="1051560"/>
            <a:ext cx="8321040" cy="18288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1E29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2"/>
          <p:cNvSpPr/>
          <p:nvPr/>
        </p:nvSpPr>
        <p:spPr>
          <a:xfrm>
            <a:off x="320040" y="1207008"/>
            <a:ext cx="4206240" cy="160020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320040" y="1207008"/>
            <a:ext cx="54864" cy="1600200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2" name="Google Shape;36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632" y="13716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2"/>
          <p:cNvSpPr/>
          <p:nvPr/>
        </p:nvSpPr>
        <p:spPr>
          <a:xfrm>
            <a:off x="978408" y="134416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Rollout Playbook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484632" y="1773936"/>
            <a:ext cx="3913632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Introducing Claude OS to your team without resistance. Change management for AI adoption. The 2-week onboarding template.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4727448" y="1207008"/>
            <a:ext cx="4206240" cy="160020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2"/>
          <p:cNvSpPr/>
          <p:nvPr/>
        </p:nvSpPr>
        <p:spPr>
          <a:xfrm>
            <a:off x="4727448" y="1207008"/>
            <a:ext cx="54864" cy="1600200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7" name="Google Shape;36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13716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2"/>
          <p:cNvSpPr/>
          <p:nvPr/>
        </p:nvSpPr>
        <p:spPr>
          <a:xfrm>
            <a:off x="5385816" y="134416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Measuring ROI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4892040" y="1773936"/>
            <a:ext cx="3913632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What to track: time saved per workflow, quality delta, team adoption rate. Building your AI productivity dashboard.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320040" y="2990088"/>
            <a:ext cx="4206240" cy="160020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2"/>
          <p:cNvSpPr/>
          <p:nvPr/>
        </p:nvSpPr>
        <p:spPr>
          <a:xfrm>
            <a:off x="320040" y="2990088"/>
            <a:ext cx="54864" cy="160020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2" name="Google Shape;37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632" y="31546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2"/>
          <p:cNvSpPr/>
          <p:nvPr/>
        </p:nvSpPr>
        <p:spPr>
          <a:xfrm>
            <a:off x="978408" y="312724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 Maintenance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484632" y="3557016"/>
            <a:ext cx="3913632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Auditing and updating Skills. Refreshing Project context as your startup evolves. Deprecating workflows that no longer serve.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4727448" y="2990088"/>
            <a:ext cx="4206240" cy="160020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4727448" y="2990088"/>
            <a:ext cx="54864" cy="160020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7" name="Google Shape;377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2040" y="31546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2"/>
          <p:cNvSpPr/>
          <p:nvPr/>
        </p:nvSpPr>
        <p:spPr>
          <a:xfrm>
            <a:off x="5385816" y="312724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Staying Current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4892040" y="3557016"/>
            <a:ext cx="3913632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Claude's release cadence: Haiku / Sonnet / Opus. Evaluating new features for workflow fit. Community resources and update practice.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1" name="Google Shape;381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920" y="47183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2"/>
          <p:cNvSpPr/>
          <p:nvPr/>
        </p:nvSpPr>
        <p:spPr>
          <a:xfrm>
            <a:off x="868680" y="471830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C8AA"/>
                </a:solidFill>
                <a:latin typeface="Calibri"/>
                <a:ea typeface="Calibri"/>
                <a:cs typeface="Calibri"/>
                <a:sym typeface="Calibri"/>
              </a:rPr>
              <a:t>Capstone: Present your full Claude OS — Projects, Skills library, agent workflows, and 90-day evolution roadmap.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3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Your 90-Day Claude OS Rollout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C8AA"/>
                </a:solidFill>
                <a:latin typeface="Calibri"/>
                <a:ea typeface="Calibri"/>
                <a:cs typeface="Calibri"/>
                <a:sym typeface="Calibri"/>
              </a:rPr>
              <a:t>From first session to company-wide operating system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411480" y="1051560"/>
            <a:ext cx="8321040" cy="18288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1E29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3"/>
          <p:cNvSpPr/>
          <p:nvPr/>
        </p:nvSpPr>
        <p:spPr>
          <a:xfrm>
            <a:off x="320040" y="1143000"/>
            <a:ext cx="2724912" cy="374904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3"/>
          <p:cNvSpPr/>
          <p:nvPr/>
        </p:nvSpPr>
        <p:spPr>
          <a:xfrm>
            <a:off x="320040" y="1143000"/>
            <a:ext cx="2724912" cy="54864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3"/>
          <p:cNvSpPr/>
          <p:nvPr/>
        </p:nvSpPr>
        <p:spPr>
          <a:xfrm>
            <a:off x="484632" y="1261872"/>
            <a:ext cx="850392" cy="256032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484632" y="1280160"/>
            <a:ext cx="8503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MONTH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6" name="Google Shape;39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632" y="162763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3"/>
          <p:cNvSpPr/>
          <p:nvPr/>
        </p:nvSpPr>
        <p:spPr>
          <a:xfrm>
            <a:off x="1005840" y="1664208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Boot Up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484632" y="2176272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A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8AA"/>
                </a:solidFill>
                <a:latin typeface="Calibri"/>
                <a:ea typeface="Calibri"/>
                <a:cs typeface="Calibri"/>
                <a:sym typeface="Calibri"/>
              </a:rPr>
              <a:t>Week 1–2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484632" y="245059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Complete Modules 1 &amp;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484632" y="272491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Configure your Project + 3 core Skills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484632" y="299923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Run first extended thinking session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484632" y="3383280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A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8AA"/>
                </a:solidFill>
                <a:latin typeface="Calibri"/>
                <a:ea typeface="Calibri"/>
                <a:cs typeface="Calibri"/>
                <a:sym typeface="Calibri"/>
              </a:rPr>
              <a:t>Week 3–4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484632" y="365760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Complete Module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484632" y="39319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Automate top 3 recurring workflows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484632" y="420624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Measure baseline time savings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3200400" y="1143000"/>
            <a:ext cx="2724912" cy="374904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3"/>
          <p:cNvSpPr/>
          <p:nvPr/>
        </p:nvSpPr>
        <p:spPr>
          <a:xfrm>
            <a:off x="3200400" y="1143000"/>
            <a:ext cx="2724912" cy="54864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3"/>
          <p:cNvSpPr/>
          <p:nvPr/>
        </p:nvSpPr>
        <p:spPr>
          <a:xfrm>
            <a:off x="3364992" y="1261872"/>
            <a:ext cx="850392" cy="256032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3"/>
          <p:cNvSpPr/>
          <p:nvPr/>
        </p:nvSpPr>
        <p:spPr>
          <a:xfrm>
            <a:off x="3364992" y="1280160"/>
            <a:ext cx="8503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MONTH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0" name="Google Shape;41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4992" y="162763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3"/>
          <p:cNvSpPr/>
          <p:nvPr/>
        </p:nvSpPr>
        <p:spPr>
          <a:xfrm>
            <a:off x="3886200" y="1664208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3364992" y="2176272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Week 5–6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3364992" y="245059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Complete Modules 4 &amp; 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3364992" y="272491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Deploy first agent workflow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3364992" y="299923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Launch growth stack (outreach pipeline)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3364992" y="3383280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Week 7–8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3364992" y="365760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Roll out to 1–2 team members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3364992" y="39319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Expand Skills library to 10+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3364992" y="420624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Build first Claude Code internal tool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6080760" y="1143000"/>
            <a:ext cx="2724912" cy="374904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3"/>
          <p:cNvSpPr/>
          <p:nvPr/>
        </p:nvSpPr>
        <p:spPr>
          <a:xfrm>
            <a:off x="6080760" y="1143000"/>
            <a:ext cx="2724912" cy="54864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3"/>
          <p:cNvSpPr/>
          <p:nvPr/>
        </p:nvSpPr>
        <p:spPr>
          <a:xfrm>
            <a:off x="6245352" y="1261872"/>
            <a:ext cx="850392" cy="256032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3"/>
          <p:cNvSpPr/>
          <p:nvPr/>
        </p:nvSpPr>
        <p:spPr>
          <a:xfrm>
            <a:off x="6245352" y="1280160"/>
            <a:ext cx="8503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MONTH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4" name="Google Shape;42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5352" y="162763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3"/>
          <p:cNvSpPr/>
          <p:nvPr/>
        </p:nvSpPr>
        <p:spPr>
          <a:xfrm>
            <a:off x="6766560" y="1664208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6245352" y="2176272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Week 9–10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6245352" y="245059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Complete Module 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6245352" y="272491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Full team onboarded to Claude 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6245352" y="299923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ROI dashboard live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6245352" y="3383280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Week 11–12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6245352" y="365760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Capstone presentation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6245352" y="39319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Ship first AI-native product feature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6245352" y="420624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90-day review + next quarter plan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4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Claude OS — The Numbers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C8AA"/>
                </a:solidFill>
                <a:latin typeface="Calibri"/>
                <a:ea typeface="Calibri"/>
                <a:cs typeface="Calibri"/>
                <a:sym typeface="Calibri"/>
              </a:rPr>
              <a:t>What the data says about Claude-powered teams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411480" y="1051560"/>
            <a:ext cx="8321040" cy="18288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1E29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4"/>
          <p:cNvSpPr/>
          <p:nvPr/>
        </p:nvSpPr>
        <p:spPr>
          <a:xfrm>
            <a:off x="320040" y="1207008"/>
            <a:ext cx="2724912" cy="1664208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4"/>
          <p:cNvSpPr/>
          <p:nvPr/>
        </p:nvSpPr>
        <p:spPr>
          <a:xfrm>
            <a:off x="320040" y="1207008"/>
            <a:ext cx="2724912" cy="54864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4"/>
          <p:cNvSpPr/>
          <p:nvPr/>
        </p:nvSpPr>
        <p:spPr>
          <a:xfrm>
            <a:off x="411480" y="1435608"/>
            <a:ext cx="2542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A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0C8AA"/>
                </a:solidFill>
                <a:latin typeface="Calibri"/>
                <a:ea typeface="Calibri"/>
                <a:cs typeface="Calibri"/>
                <a:sym typeface="Calibri"/>
              </a:rPr>
              <a:t>14.5h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411480" y="2075688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Opus 4.6 autonomous task horizon (50% time)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3200400" y="1207008"/>
            <a:ext cx="2724912" cy="1664208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4"/>
          <p:cNvSpPr/>
          <p:nvPr/>
        </p:nvSpPr>
        <p:spPr>
          <a:xfrm>
            <a:off x="3200400" y="1207008"/>
            <a:ext cx="2724912" cy="54864"/>
          </a:xfrm>
          <a:prstGeom prst="rect">
            <a:avLst/>
          </a:prstGeom>
          <a:solidFill>
            <a:srgbClr val="4A9EFF"/>
          </a:solidFill>
          <a:ln cap="flat" cmpd="sng" w="12700">
            <a:solidFill>
              <a:srgbClr val="4A9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4"/>
          <p:cNvSpPr/>
          <p:nvPr/>
        </p:nvSpPr>
        <p:spPr>
          <a:xfrm>
            <a:off x="3291840" y="1435608"/>
            <a:ext cx="2542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3–5×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3291840" y="2075688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Faster PRD &amp; spec generation for PM teams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6080760" y="1207008"/>
            <a:ext cx="2724912" cy="1664208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4"/>
          <p:cNvSpPr/>
          <p:nvPr/>
        </p:nvSpPr>
        <p:spPr>
          <a:xfrm>
            <a:off x="6080760" y="1207008"/>
            <a:ext cx="2724912" cy="54864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4"/>
          <p:cNvSpPr/>
          <p:nvPr/>
        </p:nvSpPr>
        <p:spPr>
          <a:xfrm>
            <a:off x="6172200" y="1435608"/>
            <a:ext cx="2542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10+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4"/>
          <p:cNvSpPr/>
          <p:nvPr/>
        </p:nvSpPr>
        <p:spPr>
          <a:xfrm>
            <a:off x="6172200" y="2075688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Hours/week saved per founder on information 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320040" y="3081528"/>
            <a:ext cx="2724912" cy="1664208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320040" y="3081528"/>
            <a:ext cx="2724912" cy="54864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4"/>
          <p:cNvSpPr/>
          <p:nvPr/>
        </p:nvSpPr>
        <p:spPr>
          <a:xfrm>
            <a:off x="411480" y="3310128"/>
            <a:ext cx="2542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5→20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411480" y="3950208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Effective team size with a mature Claude 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4"/>
          <p:cNvSpPr/>
          <p:nvPr/>
        </p:nvSpPr>
        <p:spPr>
          <a:xfrm>
            <a:off x="3200400" y="3081528"/>
            <a:ext cx="2724912" cy="1664208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4"/>
          <p:cNvSpPr/>
          <p:nvPr/>
        </p:nvSpPr>
        <p:spPr>
          <a:xfrm>
            <a:off x="3200400" y="3081528"/>
            <a:ext cx="2724912" cy="54864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4"/>
          <p:cNvSpPr/>
          <p:nvPr/>
        </p:nvSpPr>
        <p:spPr>
          <a:xfrm>
            <a:off x="3291840" y="3310128"/>
            <a:ext cx="2542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77%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3291840" y="3950208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SWE-bench score — Claude Sonnet 4.6 coding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6080760" y="3081528"/>
            <a:ext cx="2724912" cy="1664208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4"/>
          <p:cNvSpPr/>
          <p:nvPr/>
        </p:nvSpPr>
        <p:spPr>
          <a:xfrm>
            <a:off x="6080760" y="3081528"/>
            <a:ext cx="2724912" cy="54864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4"/>
          <p:cNvSpPr/>
          <p:nvPr/>
        </p:nvSpPr>
        <p:spPr>
          <a:xfrm>
            <a:off x="6172200" y="3310128"/>
            <a:ext cx="2542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2 wks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4"/>
          <p:cNvSpPr/>
          <p:nvPr/>
        </p:nvSpPr>
        <p:spPr>
          <a:xfrm>
            <a:off x="6172200" y="3950208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Average time to first productivity gain after setup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4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4"/>
          <p:cNvSpPr/>
          <p:nvPr/>
        </p:nvSpPr>
        <p:spPr>
          <a:xfrm>
            <a:off x="411480" y="47091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Updated March 2026 · Claude Opus 4.6 · claude.ai · docs.claude.com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5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AA"/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2936"/>
          </a:solidFill>
          <a:ln cap="flat" cmpd="sng" w="12700">
            <a:solidFill>
              <a:srgbClr val="1E29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6" name="Google Shape;47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50292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5"/>
          <p:cNvSpPr/>
          <p:nvPr/>
        </p:nvSpPr>
        <p:spPr>
          <a:xfrm>
            <a:off x="411480" y="1353312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A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C8AA"/>
                </a:solidFill>
                <a:latin typeface="Calibri"/>
                <a:ea typeface="Calibri"/>
                <a:cs typeface="Calibri"/>
                <a:sym typeface="Calibri"/>
              </a:rPr>
              <a:t>The Outcome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411480" y="1828800"/>
            <a:ext cx="8321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startup that runs on Claude 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doesn't just use AI. It thinks in systems.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411480" y="3246120"/>
            <a:ext cx="256032" cy="237744"/>
          </a:xfrm>
          <a:prstGeom prst="rect">
            <a:avLst/>
          </a:prstGeom>
          <a:solidFill>
            <a:srgbClr val="00C8AA">
              <a:alpha val="30196"/>
            </a:srgbClr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5"/>
          <p:cNvSpPr/>
          <p:nvPr/>
        </p:nvSpPr>
        <p:spPr>
          <a:xfrm>
            <a:off x="804672" y="3255264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Every recurring task has a defined Claude workflow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5"/>
          <p:cNvSpPr/>
          <p:nvPr/>
        </p:nvSpPr>
        <p:spPr>
          <a:xfrm>
            <a:off x="411480" y="3566160"/>
            <a:ext cx="256032" cy="237744"/>
          </a:xfrm>
          <a:prstGeom prst="rect">
            <a:avLst/>
          </a:prstGeom>
          <a:solidFill>
            <a:srgbClr val="00C8AA">
              <a:alpha val="30196"/>
            </a:srgbClr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5"/>
          <p:cNvSpPr/>
          <p:nvPr/>
        </p:nvSpPr>
        <p:spPr>
          <a:xfrm>
            <a:off x="804672" y="3575304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Your team onboards into accumulated AI intelligence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411480" y="3886200"/>
            <a:ext cx="256032" cy="237744"/>
          </a:xfrm>
          <a:prstGeom prst="rect">
            <a:avLst/>
          </a:prstGeom>
          <a:solidFill>
            <a:srgbClr val="00C8AA">
              <a:alpha val="30196"/>
            </a:srgbClr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5"/>
          <p:cNvSpPr/>
          <p:nvPr/>
        </p:nvSpPr>
        <p:spPr>
          <a:xfrm>
            <a:off x="804672" y="3895344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Agents run complex work autonomously while you focus on 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411480" y="4206240"/>
            <a:ext cx="256032" cy="237744"/>
          </a:xfrm>
          <a:prstGeom prst="rect">
            <a:avLst/>
          </a:prstGeom>
          <a:solidFill>
            <a:srgbClr val="00C8AA">
              <a:alpha val="30196"/>
            </a:srgbClr>
          </a:solidFill>
          <a:ln cap="flat" cmpd="sng" w="12700">
            <a:solidFill>
              <a:srgbClr val="00C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5"/>
          <p:cNvSpPr/>
          <p:nvPr/>
        </p:nvSpPr>
        <p:spPr>
          <a:xfrm>
            <a:off x="804672" y="4215384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Your Claude OS compounds — smarter and faster every month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411480" y="47731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B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BB4"/>
                </a:solidFill>
                <a:latin typeface="Calibri"/>
                <a:ea typeface="Calibri"/>
                <a:cs typeface="Calibri"/>
                <a:sym typeface="Calibri"/>
              </a:rPr>
              <a:t>claude.ai  ·  docs.claude.com  ·  Updated March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